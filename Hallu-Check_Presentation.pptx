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Helvetica Neue"/>
              </a:defRPr>
            </a:pPr>
            <a:r>
              <a:t>HALLU-CHECK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CCFF"/>
                </a:solidFill>
                <a:latin typeface="Helvetica Neue"/>
              </a:defRPr>
            </a:pPr>
            <a:r>
              <a:t>An Agentic Multi-Hop Pipeline for Detecting &amp; Correcting LLM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CC"/>
                </a:solidFill>
                <a:latin typeface="Helvetica Neue"/>
              </a:defRPr>
            </a:pPr>
            <a:r>
              <a:t>Claim-Level Verification  |  NLI-Based Detection  |  Evidence-Constrained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5BDB"/>
                </a:solidFill>
                <a:latin typeface="Helvetica Neue"/>
              </a:defRPr>
            </a:pPr>
            <a: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Detect hallucinated claims in LLM outputs using a fine-tuned NLI model</a:t>
            </a:r>
          </a:p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Correct only the incorrect claims — preserving all truthful content</a:t>
            </a:r>
          </a:p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Achieve high detection rates with sub-50 ms latency per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5BDB"/>
                </a:solidFill>
                <a:latin typeface="Helvetica Neue"/>
              </a:defRPr>
            </a:pPr>
            <a:r>
              <a:t>KEY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Fine-tuned DeBERTa-v3 NLI model for deterministic claim verification</a:t>
            </a:r>
          </a:p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Recursive Language Model (RLM) for multi-step reasoning</a:t>
            </a:r>
          </a:p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Execution-Grounded Verification (EGV) for code &amp; math claims</a:t>
            </a:r>
          </a:p>
          <a:p>
            <a:pPr>
              <a:spcBef>
                <a:spcPts val="1000"/>
              </a:spcBef>
              <a:defRPr sz="1500">
                <a:solidFill>
                  <a:srgbClr val="555566"/>
                </a:solidFill>
                <a:latin typeface="Helvetica Neue"/>
              </a:defRPr>
            </a:pPr>
            <a:r>
              <a:t>•  Iterative Corrective Refinement (ICR) — surgical claim correction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BACKGROUND &amp; EXISTING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288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3774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5BDB"/>
                </a:solidFill>
                <a:latin typeface="Helvetica Neue"/>
              </a:defRPr>
            </a:pPr>
            <a:r>
              <a:t>Existing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SelfCheckGPT — sampling consistency, no external evidence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RARR — retrieval-augmented but paragraph-level only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FActScore — atomic fact scoring, Wikipedia-only evidence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CoVe — LLM self-checks, prone to sycophancy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3774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508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03E3E"/>
                </a:solidFill>
                <a:latin typeface="Helvetica Neue"/>
              </a:defRPr>
            </a:pPr>
            <a:r>
              <a:t>Problems with Existing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Paragraph-level detection — can't isolate which claim is wrong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LLM-as-judge — same biases, sycophantic agreement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No code/math verification — logic claims treated as text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Embedding-based RAG adds unnecessary latency overhead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5303520" cy="23774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5303520" cy="50800"/>
          </a:xfrm>
          <a:prstGeom prst="rect">
            <a:avLst/>
          </a:prstGeom>
          <a:solidFill>
            <a:srgbClr val="0C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C845A"/>
                </a:solidFill>
                <a:latin typeface="Helvetica Neue"/>
              </a:defRPr>
            </a:pPr>
            <a:r>
              <a:t>Why Hallu-Check Is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Small LLMs (1B params) hallucinate frequently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Production needs claim-level granularity for trust scoring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Code &amp; math claims need execution, not text matching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Corrections must preserve truthful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303520" cy="23774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0352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5BDB"/>
                </a:solidFill>
                <a:latin typeface="Helvetica Neue"/>
              </a:defRPr>
            </a:pPr>
            <a:r>
              <a:t>How Hallu-Check Solves These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Atomic claim extraction + independent NLI per claim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Deterministic DeBERTa — no sycophancy, calibrated scores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EGV — sandboxed Python execution for ground truth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Vectorless RAG (PageIndex) — tree reasoning, no embeddings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PROPOSED SYSTEM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288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8800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800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Gatekeeper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Routes query:</a:t>
            </a:r>
            <a:br/>
            <a:r>
              <a:t>FACTUAL / REASONING</a:t>
            </a:r>
            <a:br/>
            <a:r>
              <a:t>/ CHITCHAT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5300" y="1861820"/>
            <a:ext cx="38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5BDB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3392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93392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4992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4992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6792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4992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Llama 3.2-1B</a:t>
            </a:r>
            <a:br/>
            <a:r>
              <a:t>generates first-pass</a:t>
            </a:r>
            <a:br/>
            <a:r>
              <a:t>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1492" y="1861820"/>
            <a:ext cx="38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5BDB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9584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9584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1184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1184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2984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Self-Check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1184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Multi-temperature</a:t>
            </a:r>
            <a:br/>
            <a:r>
              <a:t>NLI consistency or</a:t>
            </a:r>
            <a:br/>
            <a:r>
              <a:t>RLM decomposition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684" y="1861820"/>
            <a:ext cx="38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5BDB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5776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5776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7376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7376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2-3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9176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Web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7376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DuckDuckGo scrape</a:t>
            </a:r>
            <a:br/>
            <a:r>
              <a:t>+ C-RAG filter</a:t>
            </a:r>
            <a:br/>
            <a:r>
              <a:t>+ depth-2 crawl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876" y="1861820"/>
            <a:ext cx="38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5BDB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01968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01968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03568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3568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5368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3568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PageIndex tree</a:t>
            </a:r>
            <a:br/>
            <a:r>
              <a:t>retrieval + NLI</a:t>
            </a:r>
            <a:br/>
            <a:r>
              <a:t>alignment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0068" y="1861820"/>
            <a:ext cx="38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5BDB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39760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9760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1560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Verifier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9760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Claim extraction</a:t>
            </a:r>
            <a:br/>
            <a:r>
              <a:t>→ NLI / EGV</a:t>
            </a:r>
            <a:br/>
            <a:r>
              <a:t>per claim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6260" y="1861820"/>
            <a:ext cx="38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5BDB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74352" y="1417320"/>
            <a:ext cx="1371600" cy="1417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74352" y="1417320"/>
            <a:ext cx="13716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775952" y="1544320"/>
            <a:ext cx="381000" cy="2794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75952" y="1518920"/>
            <a:ext cx="38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07752" y="1518920"/>
            <a:ext cx="73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Helvetica Neue"/>
              </a:defRPr>
            </a:pPr>
            <a:r>
              <a:t>Refiner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5952" y="1899920"/>
            <a:ext cx="11684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Helvetica Neue"/>
              </a:defRPr>
            </a:pPr>
            <a:r>
              <a:t>Evidence-based</a:t>
            </a:r>
            <a:br/>
            <a:r>
              <a:t>claim-level</a:t>
            </a:r>
            <a:br/>
            <a:r>
              <a:t>correction (ICR)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5BDB"/>
                </a:solidFill>
                <a:latin typeface="Helvetica Neue"/>
              </a:defRPr>
            </a:pPr>
            <a:r>
              <a:t>TOOLS &amp; TECHNOLOGIES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566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Python 3.10  •  FastAPI + Uvicorn  •  PyTorch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DeBERTa-v3-base (fine-tuned on MNLI, 392K pairs)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Llama 3.2-1B-Instruct  •  Gemini 2.5 Flash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DuckDuckGo Search  •  PageIndex (vectorless RAG)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scikit-learn (Platt scaling)  •  NLTK  •  BeautifulSoup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5BDB"/>
                </a:solidFill>
                <a:latin typeface="Helvetica Neue"/>
              </a:defRPr>
            </a:pPr>
            <a:r>
              <a:t>WORKING STEPS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35661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User submits query → Gatekeeper classifies route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Llama 3.2-1B generates a preliminary answer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Self-consistency check via multi-temp NLI sampling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Web search + C-RAG filters relevant evidence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PageIndex builds tree index → retrieves context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Atomic claims extracted → each verified by NLI / EGV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Hallucinated claims → evidence-constrained refinement</a:t>
            </a:r>
          </a:p>
          <a:p>
            <a:pPr>
              <a:spcBef>
                <a:spcPts val="600"/>
              </a:spcBef>
              <a:defRPr sz="1300">
                <a:solidFill>
                  <a:srgbClr val="555566"/>
                </a:solidFill>
                <a:latin typeface="Helvetica Neue"/>
              </a:defRPr>
            </a:pPr>
            <a:r>
              <a:t>•  Final verified answer returned with confidence scores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486400"/>
            <a:ext cx="2286000" cy="10058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5486400"/>
            <a:ext cx="2286000" cy="50800"/>
          </a:xfrm>
          <a:prstGeom prst="rect">
            <a:avLst/>
          </a:prstGeom>
          <a:solidFill>
            <a:srgbClr val="0C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845A"/>
                </a:solidFill>
                <a:latin typeface="Helvetica Neue"/>
              </a:defRPr>
            </a:pPr>
            <a:r>
              <a:t>INPUT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Helvetica Neue"/>
              </a:defRPr>
            </a:pPr>
            <a:r>
              <a:t>Natural-language query</a:t>
            </a:r>
            <a:br/>
            <a:r>
              <a:t>(factual, code, or math)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0" y="5486400"/>
            <a:ext cx="2286000" cy="10058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0" y="5486400"/>
            <a:ext cx="22860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8328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5BDB"/>
                </a:solidFill>
                <a:latin typeface="Helvetica Neue"/>
              </a:defRPr>
            </a:pPr>
            <a:r>
              <a:t>PROCESS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Helvetica Neue"/>
              </a:defRPr>
            </a:pPr>
            <a:r>
              <a:t>8-node agentic pipeline</a:t>
            </a:r>
            <a:br/>
            <a:r>
              <a:t>with NLI + EGV verification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52160" y="5486400"/>
            <a:ext cx="2286000" cy="10058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52160" y="5486400"/>
            <a:ext cx="2286000" cy="50800"/>
          </a:xfrm>
          <a:prstGeom prst="rect">
            <a:avLst/>
          </a:prstGeom>
          <a:solidFill>
            <a:srgbClr val="09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9967A"/>
                </a:solidFill>
                <a:latin typeface="Helvetica Neue"/>
              </a:defRPr>
            </a:pPr>
            <a:r>
              <a:t>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Helvetica Neue"/>
              </a:defRPr>
            </a:pPr>
            <a:r>
              <a:t>Verified answer + claim</a:t>
            </a:r>
            <a:br/>
            <a:r>
              <a:t>verdicts + confidence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RESULTS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288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3774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B5BDB"/>
                </a:solidFill>
                <a:latin typeface="Helvetica Neue"/>
              </a:defRPr>
            </a:pPr>
            <a:r>
              <a:t>TruthfulQA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743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5740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38400"/>
            <a:ext cx="2743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Misconceptions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3840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197 / 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19400"/>
            <a:ext cx="2743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Detection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1940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98.5%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2743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0040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41.8 ms / sample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303520" cy="237744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30352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B5BDB"/>
                </a:solidFill>
                <a:latin typeface="Helvetica Neue"/>
              </a:defRPr>
            </a:pPr>
            <a:r>
              <a:t>HaluEval-QA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5740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05740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7490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37490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49.0%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9240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9240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73.8%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0990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F1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00990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58.9%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2740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Helvetica Neue"/>
              </a:defRPr>
            </a:pPr>
            <a:r>
              <a:t>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32740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C845A"/>
                </a:solidFill>
                <a:latin typeface="Helvetica Neue"/>
              </a:defRPr>
            </a:pPr>
            <a:r>
              <a:t>27.8 ms / sample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10972800" cy="228600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06240"/>
            <a:ext cx="10972800" cy="50800"/>
          </a:xfrm>
          <a:prstGeom prst="rect">
            <a:avLst/>
          </a:prstGeom>
          <a:solidFill>
            <a:srgbClr val="09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9967A"/>
                </a:solidFill>
                <a:latin typeface="Helvetica Neue"/>
              </a:defRPr>
            </a:pPr>
            <a:r>
              <a:t>Key Observations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98.5% detection rate on TruthfulQA — near-perfect misconception catching with DeBERTa NLI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73.8% recall on HaluEval — aggressive flagging prioritises safety over false-alarm avoidance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Sub-50 ms per-claim verification — production-viable latency on Apple MPS / CPU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Platt-scaled confidence scores are well-calibrated: 0.8 confidence ≈ 80% empirical accuracy</a:t>
            </a:r>
          </a:p>
          <a:p>
            <a:pPr>
              <a:spcBef>
                <a:spcPts val="7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Conservative design: lower precision is intentional for higher hallucination catch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2880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50800"/>
          </a:xfrm>
          <a:prstGeom prst="rect">
            <a:avLst/>
          </a:prstGeom>
          <a:solidFill>
            <a:srgbClr val="0C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C845A"/>
                </a:solidFill>
                <a:latin typeface="Helvetica Neue"/>
              </a:defRPr>
            </a:pPr>
            <a:r>
              <a:t>Summary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Designed an 8-node agentic pipeline for claim-level hallucination detection &amp; correction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Fine-tuned DeBERTa-v3 on MNLI (392K pairs) for deterministic NLI verification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Implemented RLM to decompose complex reasoning into isolated sub-problems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Built EGV for code/math claims using sandboxed Python execution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Developed ICR for surgical, evidence-constrained claim correction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Achieved 98.5% detection on TruthfulQA, 73.8% recall on HaluEval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Sub-50 ms per-claim NLI latency on consumer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B5BDB"/>
                </a:solidFill>
                <a:latin typeface="Helvetica Neue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Multi-lingual NLI — extend training to XNLI for non-English verification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Streaming pipeline — real-time verification during LLM generation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Domain-specific fine-tuning — medical, legal, financial hallucination detection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Larger RLM backbone — upgrade from 1B to 8B+ parameters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Automated ablation framework for systematic component evaluation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Browser extension / API gateway as a universal verification layer</a:t>
            </a:r>
          </a:p>
          <a:p>
            <a:pPr>
              <a:spcBef>
                <a:spcPts val="800"/>
              </a:spcBef>
              <a:defRPr sz="1400">
                <a:solidFill>
                  <a:srgbClr val="555566"/>
                </a:solidFill>
                <a:latin typeface="Helvetica Neue"/>
              </a:defRPr>
            </a:pPr>
            <a:r>
              <a:t>•  Human-in-the-loop feedback to continuously improve NLI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